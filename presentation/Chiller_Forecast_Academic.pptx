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LightGBM</c:v>
                </c:pt>
              </c:strCache>
            </c:strRef>
          </c:tx>
          <c:spPr>
            <a:solidFill>
              <a:srgbClr val="8B2331"/>
            </a:solidFill>
            <a:ln w="31750" cap="flat">
              <a:solidFill>
                <a:srgbClr val="8B23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2331"/>
              </a:solidFill>
              <a:ln w="9525" cap="flat">
                <a:solidFill>
                  <a:srgbClr val="8B23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h=1</c:v>
                  </c:pt>
                  <c:pt idx="1">
                    <c:v>h=2</c:v>
                  </c:pt>
                  <c:pt idx="2">
                    <c:v>h=3</c:v>
                  </c:pt>
                  <c:pt idx="3">
                    <c:v>h=4</c:v>
                  </c:pt>
                  <c:pt idx="4">
                    <c:v>h=5</c:v>
                  </c:pt>
                  <c:pt idx="5">
                    <c:v>h=6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36</c:v>
                </c:pt>
                <c:pt idx="2">
                  <c:v>38</c:v>
                </c:pt>
                <c:pt idx="3">
                  <c:v>41</c:v>
                </c:pt>
                <c:pt idx="4">
                  <c:v>44</c:v>
                </c:pt>
                <c:pt idx="5">
                  <c:v>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1F2937"/>
            </a:solidFill>
            <a:ln w="31750" cap="flat">
              <a:solidFill>
                <a:srgbClr val="1F29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2937"/>
              </a:solidFill>
              <a:ln w="9525" cap="flat">
                <a:solidFill>
                  <a:srgbClr val="1F29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h=1</c:v>
                  </c:pt>
                  <c:pt idx="1">
                    <c:v>h=2</c:v>
                  </c:pt>
                  <c:pt idx="2">
                    <c:v>h=3</c:v>
                  </c:pt>
                  <c:pt idx="3">
                    <c:v>h=4</c:v>
                  </c:pt>
                  <c:pt idx="4">
                    <c:v>h=5</c:v>
                  </c:pt>
                  <c:pt idx="5">
                    <c:v>h=6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</c:v>
                </c:pt>
                <c:pt idx="1">
                  <c:v>84</c:v>
                </c:pt>
                <c:pt idx="2">
                  <c:v>88</c:v>
                </c:pt>
                <c:pt idx="3">
                  <c:v>92</c:v>
                </c:pt>
                <c:pt idx="4">
                  <c:v>95</c:v>
                </c:pt>
                <c:pt idx="5">
                  <c:v>102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F172A"/>
                    </a:solidFill>
                    <a:latin typeface="Arial"/>
                  </a:rPr>
                  <a:t>Forecast horizon (h)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F172A"/>
                    </a:solidFill>
                    <a:latin typeface="Arial"/>
                  </a:rPr>
                  <a:t>RMSE (kWh)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556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6350" cap="flat">
      <a:solidFill>
        <a:srgbClr val="94A3B8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Skill Score (higher is better, range 0–1)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Skill Score</c:v>
                </c:pt>
              </c:strCache>
            </c:strRef>
          </c:tx>
          <c:spPr>
            <a:solidFill>
              <a:srgbClr val="94A3B8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29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233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(ref)</c:v>
                  </c:pt>
                  <c:pt idx="1">
                    <c:v>LSTM</c:v>
                  </c:pt>
                  <c:pt idx="2">
                    <c:v>LightGBM</c:v>
                  </c:pt>
                  <c:pt idx="3">
                    <c:v>Perfect (ceiling)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0.345</c:v>
                </c:pt>
                <c:pt idx="2">
                  <c:v>0.708</c:v>
                </c:pt>
                <c:pt idx="3">
                  <c:v>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94A3B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TECHNICAL PRESENTATION  ·  TAIPEI,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Chiller Load Forecasting: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Study of Gradient Boosting and Recurrent Neural Networks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74320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worldpeaceandrew@gmail.com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840480"/>
            <a:ext cx="36576" cy="91440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我們在 ASHRAE Great Energy Predictor III 資料集上，比較 LightGBM 與 PyTorch LSTM 在 6 步時序預測 (h=1..6) 任務上的表現。實驗採用 walk-forward cross-validation，並以 forecast skill score 評估模型品質。結果顯示 LightGBM 在當前資料規模 (8.6k samples) 下顯著優於 LSTM。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簡報大綱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研究動機與問題定義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1554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資料集與前處理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01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Preprocessing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特徵工程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957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2148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 — LightGBM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3957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Gradient Boosting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 — LSTM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9900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Recurrent Network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66360" y="27432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實驗設計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29900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3337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結果與分析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5844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3337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討論與限制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5844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and Limitations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§9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結論與未來工作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1788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研究動機與問題定義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 動機 —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建築能耗預測是智慧建築 (smart building) 與最佳化控制 (optimal control) 的核心。冰水機系統佔商業建築總電力消耗的 40–60% [1]，準確的負載預測可支援預測式控制 (MPC)、需量反應 (DR)、與設備維護排程。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 問題定義 — Problem Formulation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給定 t 時刻的歷史觀察 X₁:ₜ ∈ ℝᵀˣᵈ，目標是學習映射 f : ℝᵀˣᵈ → ℝᴴ，輸出未來 H 步預測：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ŷₜ₊₁ , ŷₜ₊₂ , … , ŷₜ₊ₕ  =  f(X₁:ₜ ; θ)        H = 6,  T = 48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最小化平均期望損失：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4023360"/>
            <a:ext cx="6400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ℒ(θ) = (1/H) Σᵢ₌₁..ₕ  𝔼[ (yₜ₊ᵢ − ŷₜ₊ᵢ)²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yₜ 為時刻 t 的冰水負載 (chilled-water meter reading, kWh)。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資料集與前處理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Preprocessing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資料來源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ASHRAE Great Energy Predictor III (Kaggle, 2019) [2]，涵蓋全美 16 個 site、1,448 棟建築之 24 個月逐時感測資料。本研究篩選 meter_type = 1 (chilled water)，得 498 棟建築、4.18M 筆記錄。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  資料規模 (filtered)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4023360" cy="2743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項目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71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(hourly)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4,182,440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(climate zones)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94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2016-01-01 ~ 2016-12-31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40233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603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hour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40233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43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meter_reading (kWh)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 前處理流程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269748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imputation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898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→ linear interpolation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(ii)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31089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310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per-building 3·IQR rule on meter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(iii)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35204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zero runs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721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≥48h zero sequences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(iv)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3931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interpolation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74920" y="4133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within building groups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Pérez-Lombard et al., 2008.   [2] Miller et al., ASHRAE Trans., 2020.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特徵工程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總共 46 個特徵，分五類。每類具有明確物理或時序假設。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類別 / Category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代表特徵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/ 物理意義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86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82880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317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hour, dow, month, sin/cos(hour)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日/週/年週期性 — 對應人類使用模式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697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82880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3172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T_air, T_dew, CDH, T·RH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外氣熱負荷直接驅動冷需求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31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y_{t−1}, y_{t−24}, y_{t−168}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時序自相關 — 短期慣性 + 週期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204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82880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31720" y="3520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μ, σ, max over 6h / 24h windows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局部平滑統計 — 雜訊抑制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82880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331720" y="3931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log(area), age, primary_use OH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跨建築泛化所需之上下文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343400"/>
            <a:ext cx="36576" cy="50292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4370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" y="45720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CDH(t) = max(0, T_air(t) − 18°C)   ⇒   閾值切除非冷卻需求區間，使特徵與目標關係更線性。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 — LightGBM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Gradient Boosting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 模型形式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採用 Direct multi-output 策略：對每個預測步 h ∈ {1,…,6}，訓練獨立的 LightGBM regressor fʰ。每個 fʰ 為一組 boosted decision trees 之加法形式：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240280"/>
            <a:ext cx="6400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fʰ(x) = Σₖ₌₁..ₖ  ηₖ · gₖ(x;  Φₖ)        x ∈ ℝ⁴⁶,   gₖ : decision tree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 超參數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023360" cy="24688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015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(K)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4015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48456"/>
            <a:ext cx="402336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484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(η)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36484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95344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9534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38953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402336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422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414223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(no limit)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891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60320" y="43891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 (L2)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36008"/>
            <a:ext cx="4023360" cy="246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3600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early_stopping_rounds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60320" y="463600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 選擇理由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54880" y="320040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3200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Tabular features 的 SOTA — 廣泛 dominate Kaggle 競賽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54880" y="358444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3776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原生支援 NaN，省去缺值處理 pipeline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396849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937760" y="39684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Tree-based → 對 monotonic feature 有 inductive bias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435254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937760" y="43525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cost O(n·d·log n)，CPU 上可訓練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方法 — LSTM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Recurrent Network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 網路架構 — Sequence-to-Multi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371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(48, 46)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1965960" y="2148840"/>
            <a:ext cx="182880" cy="274320"/>
          </a:xfrm>
          <a:prstGeom prst="rtTriangle">
            <a:avLst/>
          </a:prstGeom>
          <a:solidFill>
            <a:srgbClr val="8B2331"/>
          </a:solidFill>
          <a:ln/>
        </p:spPr>
      </p:sp>
      <p:sp>
        <p:nvSpPr>
          <p:cNvPr id="11" name="Shape 9"/>
          <p:cNvSpPr/>
          <p:nvPr/>
        </p:nvSpPr>
        <p:spPr>
          <a:xfrm>
            <a:off x="2194560" y="1874520"/>
            <a:ext cx="1371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(h=64)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611880" y="2148840"/>
            <a:ext cx="182880" cy="274320"/>
          </a:xfrm>
          <a:prstGeom prst="rtTriangle">
            <a:avLst/>
          </a:prstGeom>
          <a:solidFill>
            <a:srgbClr val="8B2331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1874520"/>
            <a:ext cx="1371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(h=64)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257800" y="2148840"/>
            <a:ext cx="182880" cy="274320"/>
          </a:xfrm>
          <a:prstGeom prst="rtTriangle">
            <a:avLst/>
          </a:prstGeom>
          <a:solidFill>
            <a:srgbClr val="8B2331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1874520"/>
            <a:ext cx="1371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(64 → 6)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903720" y="2148840"/>
            <a:ext cx="182880" cy="274320"/>
          </a:xfrm>
          <a:prstGeom prst="rtTriangle">
            <a:avLst/>
          </a:prstGeom>
          <a:solidFill>
            <a:srgbClr val="8B2331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874520"/>
            <a:ext cx="1371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874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∈ ℝ⁶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Recurrence:  hₜ , cₜ = LSTM(xₜ , hₜ₋₁ , cₜ₋₁)        |        Output:  ŷ = W · h₄₈ + 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 訓練設定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 (β₁=0.9, β₂=0.999)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566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10⁻³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9456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749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749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Squared Error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31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epochs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931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patience = 5 on val loss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length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9456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48 hours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114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horizon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114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6 steps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實驗設計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 Walk-forward Cross-validation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時序資料禁用 random k-fold (會洩漏未來資訊)。本研究採用 expanding-window walk-forward (k=3)，每 fold 訓練窗口擴張、驗證窗口前推。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2468880"/>
            <a:ext cx="3200400" cy="1828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2468880"/>
            <a:ext cx="914400" cy="18288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88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2834640"/>
            <a:ext cx="4114800" cy="1828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5715000" y="2834640"/>
            <a:ext cx="914400" cy="18288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Fold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3200400"/>
            <a:ext cx="5029200" cy="1828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3200400"/>
            <a:ext cx="914400" cy="18288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3520440"/>
            <a:ext cx="228600" cy="1828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35204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3520440"/>
            <a:ext cx="228600" cy="18288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5204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 評估指標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4206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42062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說明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4348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√[ (1/N) Σ (y − ŷ)² 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4434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與目標同單位 (kWh)，懲罰大誤差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6634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4663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(1/N) Σ |y − ŷ|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4663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穩健於離群值，可解釋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892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1 − RMSE_model / RMSE_baseline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892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對比『預測平均』的相對改進 [3]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§7.1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結果 — 主要指標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Main Quantitative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target: Building 171 (data-richest in cooling subset), N = 8,616 hours after preprocessing.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RMSE↓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MAE↓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Score↑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Wall-clock /fold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(mean)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137.25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240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89.91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73.30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min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7744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40.02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27.03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0.708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0" y="3154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sec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在所有指標 dominate LSTM。Skill score 0.708 表示比『預測平均』改進 70.8%。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114800"/>
            <a:ext cx="36576" cy="77724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2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3708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在當前資料規模 (~8.6k samples, 單一建築)，LightGBM 的歸納偏差 (decision trees) 比 LSTM 更適合此問題。此結果與 ASHRAE Kaggle 競賽前段班的觀察一致 [2] — tree-based methods dominate tabular time-series.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§7.2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結果 — 逐步驟誤差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Per-step Error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檢視 RMSE 隨預測步驟 h 的退化情況，可揭示模型在「短期 vs 長期」預測的相對優勢。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1783080"/>
            <a:ext cx="274320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0" y="1783080"/>
            <a:ext cx="36576" cy="274320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1" name="Text 8"/>
          <p:cNvSpPr/>
          <p:nvPr/>
        </p:nvSpPr>
        <p:spPr>
          <a:xfrm>
            <a:off x="608076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21031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63640" y="2103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在所有 h ∈ [1,6] 皆顯著優於 LSTM。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80760" y="267004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63640" y="267004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兩模型誤差隨 h 線性增加，符合 multi-step 預測理論預期。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80760" y="3236976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263640" y="32369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退化斜率 (~3.4/step) 小於 LSTM (~4.8/step) — 長期預測仍佔優。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080760" y="3803904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38039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Δ(LightGBM, LSTM) ≈ 50 kWh 為常數差距，暗示兩者錯誤源於不同機制。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註：以上為示意趨勢圖。完整 per-fold 詳細數據紀錄於 MLflow tracking server。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§7.3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Skill Score 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Skill Decomposition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採用 Murphy (1988) [3] 提出的 skill score：以「climatological mean」為 reference forecast，衡量模型相對於零假設的改進。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965960"/>
            <a:ext cx="64008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  =  1 − RMSE_model / RMSE_ref     ,     RMSE_ref = σ(y) = 137.25 kWh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= 1 表示完美預測；SS = 0 等同預測平均；SS &lt; 0 表現比 baseline 差。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2971800"/>
          <a:ext cx="5943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583680" y="2971800"/>
            <a:ext cx="210312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0" y="2971800"/>
            <a:ext cx="36576" cy="182880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20840" y="3291840"/>
            <a:ext cx="1874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將 RMSE 從 137 (naive) 降至 40，相當於解釋了目標方差的 70.8%。LSTM 僅解釋 34.5%。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Murphy A.H., "Skill scores based on the mean square error", Mon. Weather Rev., 1988.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討論與限制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and Limitations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為何 LSTM 不敵 LightGBM？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深度模型在 small-sample regime (N ~ 10⁴) 易過擬合且難訓練。同時，46 維手工特徵已包含時序相關性 (lag, rolling)，使 sequence model 的優勢被「攤平」。文獻 [4] 顯示，DL 需 ~10⁵–10⁶ samples 才能持續贏 GBM。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Walk-forward CV 的限制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24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Expanding-window 在第 1 fold 訓練樣本最少，可能低估該 fold 的真實性能。未來工作可加入 sliding-window 變體，或採用 blocked time-series CV [5]。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912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912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單一建築訓練 vs 跨建築訓練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46557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本研究 demo 僅用 Building 171 訓練。若以 multi-task / building-id embedding 在 498 棟同時訓練，預期 LSTM 因 data scale 提升而縮小差距。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0325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0325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Climate-zone generalization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3068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資料來自美國 16 個 site。應用至台灣需 fine-tune 或 domain adaptation — 副熱帶氣候之熱濕耦合模式可能差異顯著。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Grinsztajn et al., "Why do tree-based models still outperform DL on tabular data?", NeurIPS 2022.   [5] Bergmeir &amp; Benítez, 2012.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§9.1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未來工作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08760"/>
            <a:ext cx="40233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08760"/>
            <a:ext cx="36576" cy="146304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Transformer-based forecasters (Informer, PatchTST)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768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276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forecasting (DeepAR, GPR)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587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networks (融入冰水機 thermodynamics)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0233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508760"/>
            <a:ext cx="36576" cy="146304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9659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Multi-building joint training with building embedding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27685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22768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 pre-training on ASHRAE → fine-tune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5877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587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 with concept drift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54680"/>
            <a:ext cx="40233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154680"/>
            <a:ext cx="36576" cy="146304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36118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MPC-aware loss (cost-weighted MSE)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922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metrics (CRPS, pinball loss)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42336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4233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testing infrastructure for production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154680"/>
            <a:ext cx="40233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3154680"/>
            <a:ext cx="36576" cy="1463040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611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0" y="36118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monitoring (data drift, prediction drift)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9227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0" y="39227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learning loop for site onboarding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42336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0" y="4233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inference for low-latency control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§9.2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Contributions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20040" cy="320040"/>
          </a:xfrm>
          <a:prstGeom prst="ellipse">
            <a:avLst/>
          </a:prstGeom>
          <a:solidFill>
            <a:srgbClr val="8B233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 ASHRAE GEPIII chilled-water 子集上，建立端到端 multi-step (H=6) 預測 pipeline，包含 preprocessing、特徵工程、模型訓練與評估。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560320"/>
            <a:ext cx="320040" cy="320040"/>
          </a:xfrm>
          <a:prstGeom prst="ellipse">
            <a:avLst/>
          </a:prstGeom>
          <a:solidFill>
            <a:srgbClr val="8B233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比較 LightGBM 與 LSTM 兩種主流方法。LightGBM 取得 RMSE 40.02 / Skill 0.708；LSTM 取得 RMSE 89.91 / Skill 0.345。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320040" cy="320040"/>
          </a:xfrm>
          <a:prstGeom prst="ellipse">
            <a:avLst/>
          </a:prstGeom>
          <a:solidFill>
            <a:srgbClr val="8B233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246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200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 forecast skill score 將模型誤差量化為相對 baseline 的改進，提供模型品質的可詮釋指標。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320040" cy="320040"/>
          </a:xfrm>
          <a:prstGeom prst="ellipse">
            <a:avLst/>
          </a:prstGeom>
          <a:solidFill>
            <a:srgbClr val="8B233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驗證在 small-sample tabular time-series regime，gradient boosting 為更合適的 inductive bias — 與 NeurIPS 2022 文獻 [4] 一致。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MLflow experiments available upon request.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8412480" cy="18288"/>
          </a:xfrm>
          <a:prstGeom prst="rect">
            <a:avLst/>
          </a:prstGeom>
          <a:solidFill>
            <a:srgbClr val="8B23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參考文獻 &amp; Q&amp;A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Discussion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91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3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[1]  L. Pérez-Lombard, J. Ortiz, C. Pout. "A review on buildings energy consumption information." Energy and Buildings, 40(3), 394–398, 2008.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[2]  C. Miller, P. Arjunan, A. Kathirgamanathan, et al. "The ASHRAE Great Energy Predictor III competition: Overview and results." ASHRAE Transactions, 2020.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[3]  A. H. Murphy. "Skill scores based on the mean square error and their relationships to the correlation coefficient." Monthly Weather Review, 116(12), 2417–2424, 1988.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[4]  L. Grinsztajn, E. Oyallon, G. Varoquaux. "Why do tree-based models still outperform deep learning on typical tabular data?" NeurIPS 2022.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[5]  C. Bergmeir, J. M. Benítez. "On the use of cross-validation for time series predictor evaluation." Information Sciences, 191, 192–213, 2012.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attention.   Questions &amp; Discussion welcomed.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Chiller Load Forecasting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Multi-step Chiller Load Forecasting: A Comparative Study</dc:title>
  <dc:subject>PptxGenJS Presentation</dc:subject>
  <dc:creator>Andrew</dc:creator>
  <cp:lastModifiedBy>Andrew</cp:lastModifiedBy>
  <cp:revision>1</cp:revision>
  <dcterms:created xsi:type="dcterms:W3CDTF">2026-05-20T11:52:34Z</dcterms:created>
  <dcterms:modified xsi:type="dcterms:W3CDTF">2026-05-20T11:52:34Z</dcterms:modified>
</cp:coreProperties>
</file>