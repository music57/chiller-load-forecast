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預測誤差 (kWh) — 越低越好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00A6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Avg RMSE</c:v>
                  </c:pt>
                  <c:pt idx="1">
                    <c:v>Avg MAE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40.02</c:v>
                </c:pt>
                <c:pt idx="1">
                  <c:v>27.03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Avg RMSE</c:v>
                  </c:pt>
                  <c:pt idx="1">
                    <c:v>Avg MAE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89.91</c:v>
                </c:pt>
                <c:pt idx="1">
                  <c:v>73.3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年電費對比 (單棟 · NT$)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年電費 (NT$)</c:v>
                </c:pt>
              </c:strCache>
            </c:strRef>
          </c:tx>
          <c:spPr>
            <a:solidFill>
              <a:srgbClr val="8FA3BD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A3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6B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D8C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無智慧控制
(baseline)</c:v>
                  </c:pt>
                  <c:pt idx="1">
                    <c:v>LSTM 控制
10.3%</c:v>
                  </c:pt>
                  <c:pt idx="2">
                    <c:v>LightGBM 控制
21.3%</c:v>
                  </c:pt>
                  <c:pt idx="3">
                    <c:v>完美預測
30%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4252899</c:v>
                </c:pt>
                <c:pt idx="1">
                  <c:v>3812836</c:v>
                </c:pt>
                <c:pt idx="2">
                  <c:v>3349057</c:v>
                </c:pt>
                <c:pt idx="3">
                  <c:v>2977029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365760"/>
          </a:xfrm>
          <a:prstGeom prst="rect">
            <a:avLst/>
          </a:prstGeom>
          <a:solidFill>
            <a:srgbClr val="7CD8C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4777740"/>
            <a:ext cx="914400" cy="36576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Interview ·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冰水機負載預測平台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Chiller Load Forecast Platform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用機器學習預測冰水機未來 6 小時的冷負載，幫助節能、優化排程、降低營運成本。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從「每個案場一套客製系統」→ 升級成「一個平台服務所有案場」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5780" y="40690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B2D4D"/>
          </a:solidFill>
          <a:ln w="9525">
            <a:solidFill>
              <a:srgbClr val="00A6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" y="4069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97380" y="40690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B2D4D"/>
          </a:solidFill>
          <a:ln w="9525">
            <a:solidFill>
              <a:srgbClr val="00A6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97380" y="4069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8980" y="40690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B2D4D"/>
          </a:solidFill>
          <a:ln w="9525">
            <a:solidFill>
              <a:srgbClr val="00A6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8980" y="4069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0580" y="40690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B2D4D"/>
          </a:solidFill>
          <a:ln w="9525">
            <a:solidFill>
              <a:srgbClr val="00A6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0580" y="4069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12180" y="40690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B2D4D"/>
          </a:solidFill>
          <a:ln w="9525">
            <a:solidFill>
              <a:srgbClr val="00A6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2180" y="4069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83780" y="40690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0B2D4D"/>
          </a:solidFill>
          <a:ln w="9525">
            <a:solidFill>
              <a:srgbClr val="00A6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83780" y="4069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 ·  worldpeaceandrew@gmail.com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先講清楚：什麼是「冰水機負載預測」？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用最簡單的方式解釋這個專案要解決的問題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0" cy="7315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☼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外氣溫度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5400000">
            <a:off x="1325880" y="1645920"/>
            <a:ext cx="228600" cy="182880"/>
          </a:xfrm>
          <a:prstGeom prst="rtTriangle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熱進入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91640" y="1188720"/>
            <a:ext cx="1463040" cy="109728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1325880"/>
            <a:ext cx="27432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4560" y="1325880"/>
            <a:ext cx="27432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0320" y="1325880"/>
            <a:ext cx="27432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0" y="1691640"/>
            <a:ext cx="27432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4560" y="1691640"/>
            <a:ext cx="27432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0" y="1691640"/>
            <a:ext cx="27432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169164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建築物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3291840" y="1645920"/>
            <a:ext cx="228600" cy="182880"/>
          </a:xfrm>
          <a:prstGeom prst="rtTriangle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280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熱排出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1188720"/>
            <a:ext cx="1371600" cy="109728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11887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冰水機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製造冷水送回建築降溫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4572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743200"/>
            <a:ext cx="73152" cy="8229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788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冷負載 (Cooling Load)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063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建築物每小時需要被「移除」的熱量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冰水機這小時要做多少工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0" y="1188720"/>
            <a:ext cx="3383280" cy="3657600"/>
          </a:xfrm>
          <a:prstGeom prst="rect">
            <a:avLst/>
          </a:prstGeom>
          <a:solidFill>
            <a:srgbClr val="0B2D4D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03520" y="1188720"/>
            <a:ext cx="3383280" cy="73152"/>
          </a:xfrm>
          <a:prstGeom prst="rect">
            <a:avLst/>
          </a:prstGeom>
          <a:solidFill>
            <a:srgbClr val="7CD8C5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為什麼要預測？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86400" y="1783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40-60%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5486400" y="2423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商業建築總用電的比例就是冰水機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如果能預測 6 小時後負載 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0" y="3355848"/>
            <a:ext cx="137160" cy="137160"/>
          </a:xfrm>
          <a:prstGeom prst="ellipse">
            <a:avLst/>
          </a:prstGeom>
          <a:solidFill>
            <a:srgbClr val="7CD8C5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0" y="3291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提前啟動或關停冰水機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0" y="3675888"/>
            <a:ext cx="137160" cy="137160"/>
          </a:xfrm>
          <a:prstGeom prst="ellipse">
            <a:avLst/>
          </a:prstGeom>
          <a:solidFill>
            <a:srgbClr val="7CD8C5"/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減少不必要的空轉浪費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0" y="3995928"/>
            <a:ext cx="137160" cy="137160"/>
          </a:xfrm>
          <a:prstGeom prst="ellipse">
            <a:avLst/>
          </a:prstGeom>
          <a:solidFill>
            <a:srgbClr val="7CD8C5"/>
          </a:solidFill>
          <a:ln/>
        </p:spPr>
      </p:sp>
      <p:sp>
        <p:nvSpPr>
          <p:cNvPr id="38" name="Text 36"/>
          <p:cNvSpPr/>
          <p:nvPr/>
        </p:nvSpPr>
        <p:spPr>
          <a:xfrm>
            <a:off x="5715000" y="3931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選擇電費較低的時段運行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0" y="4434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節能 10-30%、降電費、延長設備壽命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商業挑戰 The Challenge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為什麼愛淨節能科技正在從「客製化」轉型成「平台化」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過去：每個案場一套客製系統。新案場上線要 3-6 個月、改一個 Bug 要重複修 N 次。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651760" cy="73152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客製化包袱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每個案場硬體不同、Bug 不同、需求不同。維運人力成本指數成長，新案場上線速度跟不上業務擴張。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2286000" cy="411480"/>
          </a:xfrm>
          <a:prstGeom prst="rect">
            <a:avLst/>
          </a:prstGeom>
          <a:solidFill>
            <a:srgbClr val="081E3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新案場上線時間：3-6 個月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371600"/>
            <a:ext cx="2651760" cy="73152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747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節能機會龐大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474720" y="24231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冰水機佔商業建築用電 40-60%。準確預測未來負載，可以最佳化排程，節能 10-30%。一棟商辦一年省下百萬電費並不誇張。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4251960"/>
            <a:ext cx="2286000" cy="411480"/>
          </a:xfrm>
          <a:prstGeom prst="rect">
            <a:avLst/>
          </a:prstGeom>
          <a:solidFill>
            <a:srgbClr val="081E36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潛在節能：每年 10-30% 電費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37160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371600"/>
            <a:ext cx="2651760" cy="73152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0936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現場資料很髒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09360" y="242316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感測器會壞、會漂移、會斷線。模型必須能容忍髒資料、自動偵測異常，並向利害關係人說清楚「為什麼這樣預測」。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4251960"/>
            <a:ext cx="2286000" cy="411480"/>
          </a:xfrm>
          <a:prstGeom prst="rect">
            <a:avLst/>
          </a:prstGeom>
          <a:solidFill>
            <a:srgbClr val="081E36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251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資料異常比例：~12.5%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這個專案的目標：用平台化思維解決上述三個痛點。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解決方案 Solution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完整端到端 pipeline：從原始資料到使用者介面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資料如何在系統中流動？由左至右閱讀。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" y="1463040"/>
            <a:ext cx="1508760" cy="1554480"/>
          </a:xfrm>
          <a:prstGeom prst="rect">
            <a:avLst/>
          </a:prstGeom>
          <a:solidFill>
            <a:srgbClr val="0B2D4D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4340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資料來源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5780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ASHRAE 公開資料集 · 1,448 棟建築 · 2 年逐時感測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 rot="5400000">
            <a:off x="1952244" y="2148840"/>
            <a:ext cx="164592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2125980" y="1463040"/>
            <a:ext cx="1508760" cy="1554480"/>
          </a:xfrm>
          <a:prstGeom prst="rect">
            <a:avLst/>
          </a:prstGeom>
          <a:solidFill>
            <a:srgbClr val="00A6BE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25980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資料清洗 &amp; 特徵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2598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+ FE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17420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缺值補值 · 異常偵測 · 46 個特徵工程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 rot="5400000">
            <a:off x="3643884" y="2148840"/>
            <a:ext cx="164592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3817620" y="1463040"/>
            <a:ext cx="1508760" cy="1554480"/>
          </a:xfrm>
          <a:prstGeom prst="rect">
            <a:avLst/>
          </a:prstGeom>
          <a:solidFill>
            <a:srgbClr val="F4A26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17620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機器學習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1762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09060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基線 + LSTM · MLflow 實驗追蹤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 rot="5400000">
            <a:off x="5335524" y="2148840"/>
            <a:ext cx="164592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5509260" y="1463040"/>
            <a:ext cx="1508760" cy="1554480"/>
          </a:xfrm>
          <a:prstGeom prst="rect">
            <a:avLst/>
          </a:prstGeom>
          <a:solidFill>
            <a:srgbClr val="00A6BE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09260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後端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0926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00700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· OpenAPI 文件 · PostgreSQL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rot="5400000">
            <a:off x="7027164" y="2148840"/>
            <a:ext cx="164592" cy="182880"/>
          </a:xfrm>
          <a:prstGeom prst="rtTriangle">
            <a:avLst/>
          </a:prstGeom>
          <a:solidFill>
            <a:srgbClr val="64748B"/>
          </a:solidFill>
          <a:ln/>
        </p:spPr>
      </p:sp>
      <p:sp>
        <p:nvSpPr>
          <p:cNvPr id="26" name="Shape 24"/>
          <p:cNvSpPr/>
          <p:nvPr/>
        </p:nvSpPr>
        <p:spPr>
          <a:xfrm>
            <a:off x="7200900" y="1463040"/>
            <a:ext cx="1508760" cy="1554480"/>
          </a:xfrm>
          <a:prstGeom prst="rect">
            <a:avLst/>
          </a:prstGeom>
          <a:solidFill>
            <a:srgbClr val="0B2D4D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00900" y="1554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視覺化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00900" y="1874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92340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儀表板 · 4 個分頁 · Plotly 圖表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0" y="3383280"/>
            <a:ext cx="4023360" cy="594360"/>
          </a:xfrm>
          <a:prstGeom prst="rect">
            <a:avLst/>
          </a:prstGeom>
          <a:solidFill>
            <a:srgbClr val="081E3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651760" y="3456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49040" y="3456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· meter_readings · predictions · model_metadata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301752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57200" y="4251960"/>
            <a:ext cx="2697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251960"/>
            <a:ext cx="73152" cy="77724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4572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一行指令啟動所有服務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337560" y="4251960"/>
            <a:ext cx="2697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37560" y="4251960"/>
            <a:ext cx="73152" cy="77724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40" name="Text 38"/>
          <p:cNvSpPr/>
          <p:nvPr/>
        </p:nvSpPr>
        <p:spPr>
          <a:xfrm>
            <a:off x="352044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實驗追蹤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20440" y="4572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每次訓練都有紀錄、可比較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17920" y="4251960"/>
            <a:ext cx="2697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7920" y="4251960"/>
            <a:ext cx="73152" cy="77724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多案場架構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0" y="4572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site_id 切分，新案場零程式碼上線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技術選型 Tech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每個選擇都呼應職缺需求 — 不是「會什麼用什麼」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697480" cy="73152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機器學習 / 深度學習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LightGBM · scikit-learn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模型做基線，LSTM 處理時序，符合「至少一種 DL 框架」要求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05156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51560"/>
            <a:ext cx="2697480" cy="73152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資料處理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 · SciPy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520440" y="196596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時序資料清洗、缺值補值、異常偵測，正是職缺寫明的需求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05156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51560"/>
            <a:ext cx="2697480" cy="73152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 · SQLAlchemy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196596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011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職缺指定 FastAPI；Pydantic schema 是「API contract」的核心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926080"/>
            <a:ext cx="2697480" cy="73152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384048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職缺指定 PostgreSQL；ORM 抽象讓本地測試可換 SQLite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292608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2926080"/>
            <a:ext cx="2697480" cy="73152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視覺化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044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Plotly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520440" y="384048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背景的天然強項，符合「儀表板開發或維運經驗」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2926080"/>
            <a:ext cx="26974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2926080"/>
            <a:ext cx="2697480" cy="73152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 &amp; MLOps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MLflow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0" y="3840480"/>
            <a:ext cx="2331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加分項：容器化部署 + 模型版本管理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資料來源 Data Source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資料從哪裡來？為什麼選這份？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Kaggle 公開的 ASHRAE Great Energy Predictor III — 全球最具公信力的建築能耗預測競賽資料集。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逐時資料筆數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2016 全年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51760" y="141732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棟建築 (冰水)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51760" y="2395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篩選 meter=1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個獨立案場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813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site_id 分組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51760" y="2834640"/>
            <a:ext cx="2011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51760" y="2926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65176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平均異常率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51760" y="3813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感測器問題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141732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1417320"/>
            <a:ext cx="365760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每筆資料長什麼樣？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12080" y="1920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感測器每小時上傳一次冰水機讀數，配合當下氣象條件和建築屬性：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57800" y="258775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meter_reading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12280" y="2514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冷負載讀數 (目標變數，kWh)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57800" y="2935224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2862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air_temperature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12280" y="28620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外氣溫度 (°C)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57800" y="3282696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3" name="Text 31"/>
          <p:cNvSpPr/>
          <p:nvPr/>
        </p:nvSpPr>
        <p:spPr>
          <a:xfrm>
            <a:off x="5440680" y="3209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dew_temperature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12280" y="32095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露點溫度 → 推算濕度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57800" y="3630168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6" name="Text 34"/>
          <p:cNvSpPr/>
          <p:nvPr/>
        </p:nvSpPr>
        <p:spPr>
          <a:xfrm>
            <a:off x="5440680" y="3557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wind_speed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12280" y="35570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風速 → 建築熱損失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57800" y="397764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9" name="Text 37"/>
          <p:cNvSpPr/>
          <p:nvPr/>
        </p:nvSpPr>
        <p:spPr>
          <a:xfrm>
            <a:off x="5440680" y="3904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square_feet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12280" y="3904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建築面積 → 規模代理變數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7800" y="432511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2" name="Text 40"/>
          <p:cNvSpPr/>
          <p:nvPr/>
        </p:nvSpPr>
        <p:spPr>
          <a:xfrm>
            <a:off x="544068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primary_use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12280" y="4251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建築用途 (辦公/教育/醫療)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資料完整、有公信力，但有 12.5% 缺值/異常需要處理 → 下一頁。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資料涵蓋的情境 Data Diversity &amp; Scenarios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為什麼用這份資料訓練的模型，能應用到台灣案場？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ASHRAE 資料涵蓋多種建築型態、不同氣候區、整年週期變化 — 這份多樣性讓模型學到的是「通用的冷負載規律」，不會過度擬合到單一場景。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73152" cy="150876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建築用途多樣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類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0" y="2148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primary_use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辦公樓 / 教育 / 醫療 / 飯店 / 公共設施 / 娛樂場館 — 每種建築的負載 pattern 都不同，模型必須學會跨類別泛化。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600200"/>
            <a:ext cx="73152" cy="15087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氣候區涵蓋廣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sites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040880" y="21488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climate zones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23317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從冷帶到熱帶、乾燥到潮濕都有 — 訓練出的模型對極端天氣、季節轉換都有抗性。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91840"/>
            <a:ext cx="73152" cy="150876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完整年週期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年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743200" y="38404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逐時連續資料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4023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包含完整 24 個月 — 春夏秋冬、工作日週末、節日、長假都涵蓋，能捕捉到所有時序 pattern。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29184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291840"/>
            <a:ext cx="73152" cy="15087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建築規模差異大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040880" y="38404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square_feet range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83480" y="40233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小型診所到大型購物中心都在資料裡 — 模型學到「規模 × 用途」的交互效應。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應用到台灣：愛淨的客戶建築規模、用途也很多元 — 這份資料的多樣性正好對應實際業務情境。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資料清洗 Cleaning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髒資料是現場常態 — 模型訓練前必須先處理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為什麼資料會髒？感測器斷線、定期保養停機、設定漂移、瞬間電壓問題。如果直接丟給模型，預測會被異常值污染。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37360"/>
            <a:ext cx="548640" cy="548640"/>
          </a:xfrm>
          <a:prstGeom prst="ellipse">
            <a:avLst/>
          </a:prstGeom>
          <a:solidFill>
            <a:srgbClr val="00A6B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氣象資料補值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氣象站偶爾斷訊 → 先 forward-fill (用上一筆)，再 linear interpolation (兩端內插)。處理後完全沒有缺值。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737360"/>
            <a:ext cx="548640" cy="548640"/>
          </a:xfrm>
          <a:prstGeom prst="ellipse">
            <a:avLst/>
          </a:prstGeom>
          <a:solidFill>
            <a:srgbClr val="00A6BE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692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異常偵測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0" y="21031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3×IQR 法則，逐建築獨立計算閾值。為什麼逐建築？因為一棟學校和一棟醫院的「正常範圍」完全不同。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429000"/>
            <a:ext cx="548640" cy="548640"/>
          </a:xfrm>
          <a:prstGeom prst="ellipse">
            <a:avLst/>
          </a:prstGeom>
          <a:solidFill>
            <a:srgbClr val="00A6B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長零值偵測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794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標記連續 ≥48 小時為零的讀數 → 通常是感測器壞掉，不是真的沒在用冷氣。這個邏輯來自 HVAC 領域知識。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0" y="3429000"/>
            <a:ext cx="548640" cy="548640"/>
          </a:xfrm>
          <a:prstGeom prst="ellipse">
            <a:avLst/>
          </a:prstGeom>
          <a:solidFill>
            <a:srgbClr val="00A6BE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時序內插補目標值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37947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標記為異常的讀數設為 NaN，再用時序 interpolation 填回去。讓 lag 特徵 (lag_24h) 不會被異常擴散污染。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產出：data_quality_report() 函式可生成各建築缺值/異常率報表，能向客戶交代資料品質。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特徵工程 Feature Engineering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從原始資料萃取 46 個有預測力的訊號 — 每個都能說出物理意義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我不只「想」這些特徵能用，每個都能解釋為什麼它跟冷負載有關。下面舉一個例子：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50292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0817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時間特徵 (10)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day_of_week, month, is_business_hour, is_weekend, sin/cos cyclic encoding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38528"/>
            <a:ext cx="73152" cy="50292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7510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氣象特徵 (4)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air_temp, dew_temp, cooling_degree_hours, temp × humidity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05456"/>
            <a:ext cx="73152" cy="50292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420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滯後特徵 Lag (4)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76148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lag_1h, lag_6h, lag_24h, lag_168h (上週同時段)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072384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72384"/>
            <a:ext cx="73152" cy="50292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08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滾動統計 (6)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32841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mean/std/max 在 6h 和 24h 視窗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39312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39312"/>
            <a:ext cx="73152" cy="50292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758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建築特徵 (22)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89534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log_square_feet, age, primary_use one-hot encoded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371600"/>
            <a:ext cx="3840480" cy="3337560"/>
          </a:xfrm>
          <a:prstGeom prst="rect">
            <a:avLst/>
          </a:prstGeom>
          <a:solidFill>
            <a:srgbClr val="081E3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371600"/>
            <a:ext cx="384048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舉例：cooling_degree_hours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最重要的氣象衍生特徵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2240280"/>
            <a:ext cx="3474720" cy="45720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公式：max(0, 外氣溫度 − 18°C)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為什麼這樣設計？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0" y="3108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外溫低於 18°C 時建築幾乎不需要降溫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3474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1208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高於 18°C 時，每升 1°C 冷負載就上升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38404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12080" y="3840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max(0, ...) 切掉「不必要冷卻」的雜訊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4206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1208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比直接用 air_temperature 預測力強很多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這就是「能說清楚特徵與目標因果假設」的具體展現。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什麼是「多步時序預測」？ Multi-step Forecasting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用過去資料一次預測未來多個時間點 — 不是只預測下一秒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為什麼要一次預測 6 小時？因為冰水機排程需要提前規劃 — 知道下午會熱，現在就要開始準備。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4114800" cy="32004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輸入：過去 48 小時感測資料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417320"/>
            <a:ext cx="3200400" cy="32004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輸出：未來 6 小時負載預測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7315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0"/>
            <a:ext cx="0" cy="1097280"/>
          </a:xfrm>
          <a:prstGeom prst="line">
            <a:avLst/>
          </a:prstGeom>
          <a:noFill/>
          <a:ln w="25400">
            <a:solidFill>
              <a:srgbClr val="E76F5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7200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07008" y="2423160"/>
            <a:ext cx="146304" cy="41148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664208" y="2514600"/>
            <a:ext cx="146304" cy="32004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15" name="Shape 13"/>
          <p:cNvSpPr/>
          <p:nvPr/>
        </p:nvSpPr>
        <p:spPr>
          <a:xfrm>
            <a:off x="2121408" y="2468880"/>
            <a:ext cx="146304" cy="3657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16" name="Shape 14"/>
          <p:cNvSpPr/>
          <p:nvPr/>
        </p:nvSpPr>
        <p:spPr>
          <a:xfrm>
            <a:off x="2578608" y="2377440"/>
            <a:ext cx="146304" cy="45720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17" name="Shape 15"/>
          <p:cNvSpPr/>
          <p:nvPr/>
        </p:nvSpPr>
        <p:spPr>
          <a:xfrm>
            <a:off x="3035808" y="2286000"/>
            <a:ext cx="146304" cy="54864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18" name="Shape 16"/>
          <p:cNvSpPr/>
          <p:nvPr/>
        </p:nvSpPr>
        <p:spPr>
          <a:xfrm>
            <a:off x="3493008" y="2194560"/>
            <a:ext cx="146304" cy="64008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19" name="Shape 17"/>
          <p:cNvSpPr/>
          <p:nvPr/>
        </p:nvSpPr>
        <p:spPr>
          <a:xfrm>
            <a:off x="3950208" y="2240280"/>
            <a:ext cx="146304" cy="5943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20" name="Shape 18"/>
          <p:cNvSpPr/>
          <p:nvPr/>
        </p:nvSpPr>
        <p:spPr>
          <a:xfrm>
            <a:off x="4407408" y="2194560"/>
            <a:ext cx="146304" cy="64008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21" name="Shape 19"/>
          <p:cNvSpPr/>
          <p:nvPr/>
        </p:nvSpPr>
        <p:spPr>
          <a:xfrm>
            <a:off x="5321808" y="2148840"/>
            <a:ext cx="146304" cy="685800"/>
          </a:xfrm>
          <a:prstGeom prst="rect">
            <a:avLst/>
          </a:prstGeom>
          <a:solidFill>
            <a:srgbClr val="00A6BE">
              <a:alpha val="40000"/>
            </a:srgbClr>
          </a:solidFill>
          <a:ln w="19050">
            <a:solidFill>
              <a:srgbClr val="00A6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79008" y="2057400"/>
            <a:ext cx="146304" cy="777240"/>
          </a:xfrm>
          <a:prstGeom prst="rect">
            <a:avLst/>
          </a:prstGeom>
          <a:solidFill>
            <a:srgbClr val="00A6BE">
              <a:alpha val="40000"/>
            </a:srgbClr>
          </a:solidFill>
          <a:ln w="19050">
            <a:solidFill>
              <a:srgbClr val="00A6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2011680"/>
            <a:ext cx="146304" cy="822960"/>
          </a:xfrm>
          <a:prstGeom prst="rect">
            <a:avLst/>
          </a:prstGeom>
          <a:solidFill>
            <a:srgbClr val="00A6BE">
              <a:alpha val="40000"/>
            </a:srgbClr>
          </a:solidFill>
          <a:ln w="19050">
            <a:solidFill>
              <a:srgbClr val="00A6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3408" y="2057400"/>
            <a:ext cx="146304" cy="777240"/>
          </a:xfrm>
          <a:prstGeom prst="rect">
            <a:avLst/>
          </a:prstGeom>
          <a:solidFill>
            <a:srgbClr val="00A6BE">
              <a:alpha val="40000"/>
            </a:srgbClr>
          </a:solidFill>
          <a:ln w="19050">
            <a:solidFill>
              <a:srgbClr val="00A6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50608" y="2148840"/>
            <a:ext cx="146304" cy="685800"/>
          </a:xfrm>
          <a:prstGeom prst="rect">
            <a:avLst/>
          </a:prstGeom>
          <a:solidFill>
            <a:srgbClr val="00A6BE">
              <a:alpha val="40000"/>
            </a:srgbClr>
          </a:solidFill>
          <a:ln w="19050">
            <a:solidFill>
              <a:srgbClr val="00A6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07808" y="2286000"/>
            <a:ext cx="146304" cy="548640"/>
          </a:xfrm>
          <a:prstGeom prst="rect">
            <a:avLst/>
          </a:prstGeom>
          <a:solidFill>
            <a:srgbClr val="00A6BE">
              <a:alpha val="40000"/>
            </a:srgbClr>
          </a:solidFill>
          <a:ln w="19050">
            <a:solidFill>
              <a:srgbClr val="00A6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負載 (kWh)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-48h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0100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7532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 →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840480"/>
            <a:ext cx="73152" cy="105156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886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挑戰：Walk-forward Validation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4206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時序資料絕對不能用一般的 k-fold cross-validation — 因為這樣會「用未來資料訓練去預測過去」，等於作弊。要用 walk-forward：時間先後嚴格保留。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3840480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3840480"/>
            <a:ext cx="73152" cy="10515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8862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離線/線上一致性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00600" y="42062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離線訓練的評估方式必須跟線上實際運作一致 — 不然模型在實驗室很厲害，上線就崩。walk-forward 就是在模擬「每天都在預測明天」的場景。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為什麼挑這兩個演算法？ LightGBM vs LSTM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他們代表時序預測兩種主流哲學 — 我要證明兩個都掌握，並能用實驗判斷哪個適合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081E3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業界共識：時序預測領域有兩大流派 — Tree-based (代表：LightGBM) 與 Sequence-based (代表：LSTM)。我同時實作，用同份資料、同個驗證流程公平比較。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1148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4114800" cy="9144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梯度提升樹 · Gradient Boosting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6 個未來時段，訓練 6 個獨立的樹模型。每個模型負責預測一個時間步。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優勢：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401568"/>
            <a:ext cx="118872" cy="118872"/>
          </a:xfrm>
          <a:prstGeom prst="ellipse">
            <a:avLst/>
          </a:prstGeom>
          <a:solidFill>
            <a:srgbClr val="00A6B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337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特徵的標竿模型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3694176"/>
            <a:ext cx="118872" cy="118872"/>
          </a:xfrm>
          <a:prstGeom prst="ellipse">
            <a:avLst/>
          </a:prstGeom>
          <a:solidFill>
            <a:srgbClr val="00A6B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6301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原生處理 NaN，不怕髒資料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3986784"/>
            <a:ext cx="118872" cy="118872"/>
          </a:xfrm>
          <a:prstGeom prst="ellipse">
            <a:avLst/>
          </a:prstGeom>
          <a:solidFill>
            <a:srgbClr val="00A6BE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9227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ASHRAE Kaggle 競賽冠軍方案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343400"/>
            <a:ext cx="361188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343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訓練速度：~30 秒 / fold (CPU)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41148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463040"/>
            <a:ext cx="4114800" cy="91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LSTM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2920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長短期記憶神經網路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331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把過去 48 小時當成一個序列丟進 LSTM，一次輸出未來 6 小時的預測。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優勢：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74920" y="3401568"/>
            <a:ext cx="118872" cy="11887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3337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能學長期時序依賴模式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3694176"/>
            <a:ext cx="118872" cy="11887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36301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可以隨資料增加而變強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74920" y="3986784"/>
            <a:ext cx="118872" cy="11887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39227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符合「深度學習落地」要求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0" y="4343400"/>
            <a:ext cx="3611880" cy="320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4343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訓練速度：~3-5 分鐘 / fold (CPU)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結果在下一頁 — 但先思考：在這個資料規模下，哪個流派會贏？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實驗結果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171 · 8,616 筆資料 · 3-fold walk-forward CV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RMSE 和 Avg MAE 越低越好 (代表平均預測誤差，單位 kWh)。LightGBM 大幅勝出。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25880"/>
          <a:ext cx="49377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325880"/>
            <a:ext cx="31089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325880"/>
            <a:ext cx="3108960" cy="73152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9" name="Text 6"/>
          <p:cNvSpPr/>
          <p:nvPr/>
        </p:nvSpPr>
        <p:spPr>
          <a:xfrm>
            <a:off x="576072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我怎麼解讀這個結果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1828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LightGBM 勝出符合預期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60720" y="21214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ASHRAE 競賽前幾名也都是 GBM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60720" y="2459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LSTM 沒贏不是 LSTM 不好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60720" y="2752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單一建築 8,616 筆對 LSTM 來說偏少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60720" y="3090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Tabular 特徵充足時，GBM 通常贏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0720" y="33832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這是業界一致的經驗法則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760720" y="3721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別只看 MAPE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60720" y="40142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夜間負載接近零會讓 MAPE 失真，RMSE/MAE 才是真實表現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081E36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實務建議：LightGBM 跑 1-6h 短期排程；資料規模擴大到「跨建築 + 多月」時再回頭評估 LSTM。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商業價值試算 Business Value · Taiwan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LightGBM 跟 LSTM 的實際 RMSE，推算對比「沒有智慧控制」能省多少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方法：模型預測越準 → 控制策略越精準 → 節能越多。用 forecast skill score 把模型 RMSE 轉換成可實現的節能比例。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7432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74320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試算方法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基準電費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171 全年逐時消耗 × 台電三段式時間電價 = NT$ 4,252,899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Forecast Skill 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4436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= 1 − (模型RMSE / 基準RMSE)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LightGBM: 1 − 40/137 = 71%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LSTM: 1 − 90/137 = 35%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可實現節能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416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Skill × 30% 理論上限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(理論上限來自 ASHRAE/DOE 文獻)</a:t>
            </a:r>
            <a:endParaRPr lang="en-US" sz="9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383280" y="1417320"/>
          <a:ext cx="3657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7223760" y="1417320"/>
            <a:ext cx="1463040" cy="3337560"/>
          </a:xfrm>
          <a:prstGeom prst="rect">
            <a:avLst/>
          </a:prstGeom>
          <a:solidFill>
            <a:srgbClr val="081E3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223760" y="1417320"/>
            <a:ext cx="1463040" cy="73152"/>
          </a:xfrm>
          <a:prstGeom prst="rect">
            <a:avLst/>
          </a:prstGeom>
          <a:solidFill>
            <a:srgbClr val="7CD8C5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無控制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223760" y="17556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單棟年省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22376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23760" y="23591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萬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22376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223760" y="32278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萬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722376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223760" y="40965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萬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solidFill>
            <a:srgbClr val="081E36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4846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 LightGBM 模型對比無控制可省 NT$ 90 萬/年/棟。10 棟組合 = NT$ 900 萬/年。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節能 10-30% 怎麼來的？ How the Savings Are Achieved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預測準了，可以透過三個具體機制省電 — 不是憑空喊出來的數字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「預測 → 控制 → 節能」的因果鏈：模型告訴你未來 6 小時的冷負載，控制系統就能做出原本做不到的最佳化決策。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2651760" cy="73152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00A6B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148840" y="1737360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081E36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17373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15%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時段轉移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Shifting / Pre-cooling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預測明天下午會熱 → 今天凌晨先預冷建築（用冷水/冷凍設施儲存「冷量」）。把運轉時間搬到電價便宜的時段。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23317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114800"/>
            <a:ext cx="45720" cy="45720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台灣電價差：尖峰 NT$ 7.07 vs 離峰 NT$ 1.96 = 每 kWh 移轉省 5 元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50876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50876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0" y="1691640"/>
            <a:ext cx="502920" cy="50292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983480" y="1737360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081E36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7373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10%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避免過度製冷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7472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Over-cooling Avoidance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0" y="29260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傳統控制是「現在熱就開」的反應式。預測能提前看到「半小時後氣溫會下降」，可以不用先開冰水機浪費電。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0" y="4114800"/>
            <a:ext cx="23317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Shape 26"/>
          <p:cNvSpPr/>
          <p:nvPr/>
        </p:nvSpPr>
        <p:spPr>
          <a:xfrm>
            <a:off x="3474720" y="4114800"/>
            <a:ext cx="4572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3584448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減少 1 小時冰水機空轉 = 省 115 kWh × NT$ 4.94 = NT$ 568 / 次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1508760"/>
            <a:ext cx="265176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508760"/>
            <a:ext cx="2651760" cy="73152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32" name="Shape 30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00A6BE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7818120" y="1737360"/>
            <a:ext cx="822960" cy="411480"/>
          </a:xfrm>
          <a:prstGeom prst="roundRect">
            <a:avLst>
              <a:gd name="adj" fmla="val 11111"/>
            </a:avLst>
          </a:prstGeom>
          <a:solidFill>
            <a:srgbClr val="081E36"/>
          </a:solidFill>
          <a:ln/>
        </p:spPr>
      </p:sp>
      <p:sp>
        <p:nvSpPr>
          <p:cNvPr id="35" name="Text 33"/>
          <p:cNvSpPr/>
          <p:nvPr/>
        </p:nvSpPr>
        <p:spPr>
          <a:xfrm>
            <a:off x="7818120" y="17373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8%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2286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最佳負載率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0936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Part-Load Ratio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29260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冰水機 COP (效率) 在 40-80% 部分負載率最佳。預測能讓系統選擇「最有效率的容量點」運轉，而不是反覆全開全關。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4114800"/>
            <a:ext cx="23317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0" y="4114800"/>
            <a:ext cx="45720" cy="45720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41" name="Text 39"/>
          <p:cNvSpPr/>
          <p:nvPr/>
        </p:nvSpPr>
        <p:spPr>
          <a:xfrm>
            <a:off x="6419088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從 3.5 → 5.0 = 同樣冷量少耗 30% 電力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081E36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三個機制加總 → 10-30% (上頁數字的依據)。實際省多少看建築原本控制有多「笨」 — 越傳統的系統，預測控制效益越大。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平台化設計 Multi-site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這是這個專案最對應職缺的部分 — 從客製化轉型平台化的核心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不只是「能跑」— 還要能讓新案場零程式碼上線、讓前後端可以平行開發。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介面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37360"/>
            <a:ext cx="548640" cy="384048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/api/v1/buildings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0" y="1737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列出建築 (site_id 篩選)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94560"/>
            <a:ext cx="548640" cy="384048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945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194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/api/v1/buildings/{id}/readings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21945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歷史讀數查詢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51760"/>
            <a:ext cx="548640" cy="3840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51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2651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/api/v1/predict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0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送特徵 → 6h 預測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08960"/>
            <a:ext cx="548640" cy="384048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089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3108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/api/v1/predictions/{id}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0" y="3108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查預測歷史 (audit)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566160"/>
            <a:ext cx="548640" cy="384048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5661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3566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/api/v1/models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0" y="35661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模型清單與指標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023360"/>
            <a:ext cx="548640" cy="384048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023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7280" y="4023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/api/v1/health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0" y="40233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健康檢查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60720" y="1325880"/>
            <a:ext cx="29260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60720" y="1325880"/>
            <a:ext cx="292608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平台化關鍵設計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943600" y="1947672"/>
            <a:ext cx="91440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1" name="Text 39"/>
          <p:cNvSpPr/>
          <p:nvPr/>
        </p:nvSpPr>
        <p:spPr>
          <a:xfrm>
            <a:off x="6126480" y="1874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隔離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26480" y="2148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buildings.site_id 是所有查詢的篩選 key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43600" y="2606040"/>
            <a:ext cx="91440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4" name="Text 42"/>
          <p:cNvSpPr/>
          <p:nvPr/>
        </p:nvSpPr>
        <p:spPr>
          <a:xfrm>
            <a:off x="6126480" y="2532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跨建築模型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26480" y="28072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特徵讓同一模型能服務不同建築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43600" y="3264408"/>
            <a:ext cx="91440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7" name="Text 45"/>
          <p:cNvSpPr/>
          <p:nvPr/>
        </p:nvSpPr>
        <p:spPr>
          <a:xfrm>
            <a:off x="6126480" y="31912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first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126480" y="34655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定下來，前後端可平行開發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43600" y="3922776"/>
            <a:ext cx="91440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0" name="Text 48"/>
          <p:cNvSpPr/>
          <p:nvPr/>
        </p:nvSpPr>
        <p:spPr>
          <a:xfrm>
            <a:off x="6126480" y="38496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零程式碼上線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26480" y="41239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新案場只要 INSERT 一筆建築紀錄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自動產生 OpenAPI 文件 — 面試 demo 時打開 /docs 就能互動測試。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工程實踐 Engineering Practices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對應職缺：「以長期可維運為優先」「良好的文件習慣」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展示我不只「跑得出結果」，還能交付可維運的程式碼。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73152" cy="164592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356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測試 preprocessing + API endpoints，每次 commit 前驗證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325880"/>
            <a:ext cx="73152" cy="164592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4356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1-cmd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2044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Deploy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286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一行指令啟動 PostgreSQL + API + 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25880"/>
            <a:ext cx="73152" cy="164592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4356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Layers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286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model / API / DB / UI 五層清晰分離，可以單獨替換任一層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08960"/>
            <a:ext cx="73152" cy="164592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18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Interface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069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BaseForecaster 抽象介面，未來新模型只要 implement 就能加入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310896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37560" y="3108960"/>
            <a:ext cx="73152" cy="164592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218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52044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20440" y="4069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每次訓練的 metrics、超參數、模型檔案都自動記錄，可比較可回溯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10896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3108960"/>
            <a:ext cx="73152" cy="164592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3218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40080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4069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強制檢查 API contract，型別錯誤在最外層就攔截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D4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 Demo Live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接下來實際打開瀏覽器給您看 — 三個服務同時運行中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所有服務都跑在我的 Docker 容器裡，這就是「平台化」的具體成果。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50876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08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API 文件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localhost:8000/docs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自動產生互動式 API 文件 · 可以直接 POST /predict 看回傳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71600"/>
            <a:ext cx="73152" cy="150876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508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692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儀表板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localhost:8501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286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個分頁：Overview · Prediction · Model Comparison · Data Quality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63240"/>
            <a:ext cx="73152" cy="150876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實驗追蹤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977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 LightGBM 與 LSTM 在每個 fold 的 RMSE / MAE，可下載 artefacts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06324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063240"/>
            <a:ext cx="73152" cy="150876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66928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探索分析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6928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notebooks/01_EDA.ipynb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977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展示資料分布、缺值、特徵與目標的關聯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ps 證明三個容器都是 healthy 狀態。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為什麼我適合愛淨節能科技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I'm a fit for this role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" cy="292608"/>
          </a:xfrm>
          <a:prstGeom prst="rect">
            <a:avLst/>
          </a:prstGeom>
          <a:solidFill>
            <a:srgbClr val="7CD8C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 ML pipeline 落地能力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1188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ASHRAE 原始資料到 production-ready API 和 Dashboard 都自己完成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9728" cy="292608"/>
          </a:xfrm>
          <a:prstGeom prst="rect">
            <a:avLst/>
          </a:prstGeom>
          <a:solidFill>
            <a:srgbClr val="7CD8C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多步時序預測實務經驗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1783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CV、離線/線上一致性、6 步預測都實作出來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109728" cy="292608"/>
          </a:xfrm>
          <a:prstGeom prst="rect">
            <a:avLst/>
          </a:prstGeom>
          <a:solidFill>
            <a:srgbClr val="7CD8C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平台化思維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1880" y="2286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first、multi-site schema、新案場零程式碼上線的設計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109728" cy="292608"/>
          </a:xfrm>
          <a:prstGeom prst="rect">
            <a:avLst/>
          </a:prstGeom>
          <a:solidFill>
            <a:srgbClr val="7CD8C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扎實工程素養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2788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· Docker · MLflow · Pydantic schema validation 都有實作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109728" cy="292608"/>
          </a:xfrm>
          <a:prstGeom prst="rect">
            <a:avLst/>
          </a:prstGeom>
          <a:solidFill>
            <a:srgbClr val="7CD8C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資料敘事 (BI 背景)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1880" y="3291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對齊不同利害關係人 — 從工程師到老闆都看得懂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109728" cy="292608"/>
          </a:xfrm>
          <a:prstGeom prst="rect">
            <a:avLst/>
          </a:prstGeom>
          <a:solidFill>
            <a:srgbClr val="7CD8C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持續學習意願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11880" y="37947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從零學 HVAC 領域，一週內把這個 demo 完整交付，證明學習速度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solidFill>
            <a:srgbClr val="00A6B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 · Thank you.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Chiller Load Forecast Platform</dc:title>
  <dc:subject>PptxGenJS Presentation</dc:subject>
  <dc:creator>Andrew</dc:creator>
  <cp:lastModifiedBy>Andrew</cp:lastModifiedBy>
  <cp:revision>1</cp:revision>
  <dcterms:created xsi:type="dcterms:W3CDTF">2026-05-20T11:35:47Z</dcterms:created>
  <dcterms:modified xsi:type="dcterms:W3CDTF">2026-05-20T11:35:47Z</dcterms:modified>
</cp:coreProperties>
</file>